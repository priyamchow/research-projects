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0"/>
  </p:notesMasterIdLst>
  <p:sldIdLst>
    <p:sldId id="299" r:id="rId2"/>
    <p:sldId id="300" r:id="rId3"/>
    <p:sldId id="257" r:id="rId4"/>
    <p:sldId id="302" r:id="rId5"/>
    <p:sldId id="301" r:id="rId6"/>
    <p:sldId id="303" r:id="rId7"/>
    <p:sldId id="304" r:id="rId8"/>
    <p:sldId id="305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nt" id="{4451CBD1-80AE-487C-8B32-F041E4A35748}">
          <p14:sldIdLst>
            <p14:sldId id="299"/>
            <p14:sldId id="300"/>
            <p14:sldId id="257"/>
            <p14:sldId id="302"/>
            <p14:sldId id="301"/>
            <p14:sldId id="303"/>
            <p14:sldId id="304"/>
            <p14:sldId id="305"/>
          </p14:sldIdLst>
        </p14:section>
        <p14:section name="Final Slides" id="{6FCBC971-A2BA-436D-A2B2-EBB1A1187A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8F4E80-BB07-9124-A00B-1219C3CC4B36}" name="Samantha Andrin García" initials="SAG" userId="Samantha Andrin García" providerId="None"/>
  <p188:author id="{5EBDB1DB-79A8-947B-9063-5F17B44521F2}" name="Ruben Martin Sanchez" initials="RMS" userId="e84aa1c1e377097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6A"/>
    <a:srgbClr val="1A2364"/>
    <a:srgbClr val="141B4E"/>
    <a:srgbClr val="14264E"/>
    <a:srgbClr val="18154B"/>
    <a:srgbClr val="2D1D42"/>
    <a:srgbClr val="172F59"/>
    <a:srgbClr val="002450"/>
    <a:srgbClr val="21427D"/>
    <a:srgbClr val="3021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9" autoAdjust="0"/>
    <p:restoredTop sz="86410" autoAdjust="0"/>
  </p:normalViewPr>
  <p:slideViewPr>
    <p:cSldViewPr snapToGrid="0" showGuides="1">
      <p:cViewPr varScale="1">
        <p:scale>
          <a:sx n="106" d="100"/>
          <a:sy n="106" d="100"/>
        </p:scale>
        <p:origin x="979" y="72"/>
      </p:cViewPr>
      <p:guideLst/>
    </p:cSldViewPr>
  </p:slideViewPr>
  <p:outlineViewPr>
    <p:cViewPr>
      <p:scale>
        <a:sx n="33" d="100"/>
        <a:sy n="33" d="100"/>
      </p:scale>
      <p:origin x="0" y="-7373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m Chowdhury" userId="d0e41ec10428e3b1" providerId="LiveId" clId="{FC5C51E5-38C9-4155-96B9-8D5C3BC40B33}"/>
    <pc:docChg chg="undo custSel modSld">
      <pc:chgData name="Priyam Chowdhury" userId="d0e41ec10428e3b1" providerId="LiveId" clId="{FC5C51E5-38C9-4155-96B9-8D5C3BC40B33}" dt="2025-07-23T06:03:36.104" v="1" actId="20577"/>
      <pc:docMkLst>
        <pc:docMk/>
      </pc:docMkLst>
      <pc:sldChg chg="modSp mod">
        <pc:chgData name="Priyam Chowdhury" userId="d0e41ec10428e3b1" providerId="LiveId" clId="{FC5C51E5-38C9-4155-96B9-8D5C3BC40B33}" dt="2025-07-23T06:03:36.104" v="1" actId="20577"/>
        <pc:sldMkLst>
          <pc:docMk/>
          <pc:sldMk cId="1204233752" sldId="299"/>
        </pc:sldMkLst>
        <pc:spChg chg="mod">
          <ac:chgData name="Priyam Chowdhury" userId="d0e41ec10428e3b1" providerId="LiveId" clId="{FC5C51E5-38C9-4155-96B9-8D5C3BC40B33}" dt="2025-07-23T06:03:36.104" v="1" actId="20577"/>
          <ac:spMkLst>
            <pc:docMk/>
            <pc:sldMk cId="1204233752" sldId="29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75F52-A23B-4399-BA6A-0C67630DC798}" type="datetimeFigureOut">
              <a:rPr lang="es-ES" smtClean="0"/>
              <a:t>23/07/2025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697B3-F70A-4A4D-B3CF-D39CDFCE104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748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600" y="1738350"/>
            <a:ext cx="7696800" cy="1666800"/>
          </a:xfrm>
        </p:spPr>
        <p:txBody>
          <a:bodyPr anchor="b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549600"/>
            <a:ext cx="6858000" cy="35138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23002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2300400"/>
            <a:ext cx="7696800" cy="763200"/>
          </a:xfrm>
        </p:spPr>
        <p:txBody>
          <a:bodyPr anchor="b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7200" y="3027600"/>
            <a:ext cx="5313600" cy="4248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FEA4E8-678D-4279-BA7C-4E624B9ABEB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90850" y="1393200"/>
            <a:ext cx="1566000" cy="907200"/>
          </a:xfrm>
        </p:spPr>
        <p:txBody>
          <a:bodyPr>
            <a:noAutofit/>
          </a:bodyPr>
          <a:lstStyle>
            <a:lvl1pPr marL="0" indent="0" algn="ctr">
              <a:buNone/>
              <a:defRPr sz="6600">
                <a:solidFill>
                  <a:schemeClr val="bg1"/>
                </a:solidFill>
                <a:latin typeface="Bigshot One" panose="02000503020000020004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539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od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267200"/>
            <a:ext cx="7696200" cy="3322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595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000" y="3279843"/>
            <a:ext cx="3060000" cy="882000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999" y="3279843"/>
            <a:ext cx="3060000" cy="882000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7D2E8C-1B66-4B58-9E61-419F96DF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7D406E-515A-4F43-9A01-A05A4C6D192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98754" y="2775843"/>
            <a:ext cx="3060000" cy="392482"/>
          </a:xfrm>
        </p:spPr>
        <p:txBody>
          <a:bodyPr>
            <a:no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C9BD97-A085-490E-8875-69685121698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985999" y="2775843"/>
            <a:ext cx="3060000" cy="392482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294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31EA624C-FB10-4F7A-86B5-B42DD0880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81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oi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809043F-2CB1-4697-ADC0-1A4B5CEE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3260"/>
            <a:ext cx="7886700" cy="26569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4782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descri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A18F67-F843-4044-8CC2-936CEDFB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9A7AE3-6DC0-4E14-B383-46FEEF736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596324"/>
            <a:ext cx="3553632" cy="299367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5800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961200"/>
            <a:ext cx="2872800" cy="2152800"/>
          </a:xfrm>
        </p:spPr>
        <p:txBody>
          <a:bodyPr anchor="b"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744140"/>
            <a:ext cx="384810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3211200"/>
            <a:ext cx="2872800" cy="990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4375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38118C-7525-42C5-83E9-64911118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148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631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027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82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528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352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04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5" r:id="rId3"/>
    <p:sldLayoutId id="2147483667" r:id="rId4"/>
    <p:sldLayoutId id="2147483669" r:id="rId5"/>
    <p:sldLayoutId id="2147483658" r:id="rId6"/>
    <p:sldLayoutId id="2147483671" r:id="rId7"/>
    <p:sldLayoutId id="2147483672" r:id="rId8"/>
    <p:sldLayoutId id="2147483659" r:id="rId9"/>
    <p:sldLayoutId id="2147483670" r:id="rId10"/>
    <p:sldLayoutId id="2147483683" r:id="rId11"/>
    <p:sldLayoutId id="2147483684" r:id="rId12"/>
    <p:sldLayoutId id="2147483685" r:id="rId13"/>
    <p:sldLayoutId id="2147483686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17/06/relationships/model3d" Target="../media/model3d4.glb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microsoft.com/office/2017/06/relationships/model3d" Target="../media/model3d3.glb"/><Relationship Id="rId5" Type="http://schemas.openxmlformats.org/officeDocument/2006/relationships/image" Target="../media/image7.png"/><Relationship Id="rId4" Type="http://schemas.microsoft.com/office/2017/06/relationships/model3d" Target="../media/model3d2.glb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microsoft.com/office/2017/06/relationships/model3d" Target="../media/model3d3.glb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kaggle.com/datasets/meetnagadia/human-action-recognition-har-dataset" TargetMode="External"/><Relationship Id="rId5" Type="http://schemas.openxmlformats.org/officeDocument/2006/relationships/image" Target="../media/image11.png"/><Relationship Id="rId4" Type="http://schemas.microsoft.com/office/2017/06/relationships/model3d" Target="../media/model3d3.glb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microsoft.com/office/2017/06/relationships/model3d" Target="../media/model3d3.glb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microsoft.com/office/2017/06/relationships/model3d" Target="../media/model3d3.glb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microsoft.com/office/2017/06/relationships/model3d" Target="../media/model3d3.glb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microsoft.com/office/2017/06/relationships/model3d" Target="../media/model3d3.glb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microsoft.com/office/2017/06/relationships/model3d" Target="../media/model3d3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Modelo 3D 5">
                <a:extLst>
                  <a:ext uri="{FF2B5EF4-FFF2-40B4-BE49-F238E27FC236}">
                    <a16:creationId xmlns:a16="http://schemas.microsoft.com/office/drawing/2014/main" id="{D1C169BC-6737-47A1-B600-04EA1BBC53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3313781"/>
                  </p:ext>
                </p:extLst>
              </p:nvPr>
            </p:nvGraphicFramePr>
            <p:xfrm>
              <a:off x="7149133" y="353581"/>
              <a:ext cx="1272401" cy="125341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72401" cy="1253410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22748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785208" d="1000000"/>
                    <am3d:preTrans dx="1284076" dy="-339872" dz="-26175400"/>
                    <am3d:scale>
                      <am3d:sx n="1000000" d="1000000"/>
                      <am3d:sy n="1000000" d="1000000"/>
                      <am3d:sz n="1000000" d="1000000"/>
                    </am3d:scale>
                    <am3d:rot ay="108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676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Modelo 3D 5">
                <a:extLst>
                  <a:ext uri="{FF2B5EF4-FFF2-40B4-BE49-F238E27FC236}">
                    <a16:creationId xmlns:a16="http://schemas.microsoft.com/office/drawing/2014/main" id="{D1C169BC-6737-47A1-B600-04EA1BBC53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9133" y="353581"/>
                <a:ext cx="1272401" cy="1253410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34BEBE0-30E7-49E4-A816-DCA7EB661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00" y="1738350"/>
            <a:ext cx="7696800" cy="16668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t"/>
          <a:lstStyle/>
          <a:p>
            <a:r>
              <a:rPr lang="en-US" sz="3600" b="1" dirty="0"/>
              <a:t>Comparative Analysis of Human Activity Recognition Using Different Versions of Yolo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>
                <a:extLst>
                  <a:ext uri="{FF2B5EF4-FFF2-40B4-BE49-F238E27FC236}">
                    <a16:creationId xmlns:a16="http://schemas.microsoft.com/office/drawing/2014/main" id="{7EDFCD78-F968-41E8-9A9F-A5215B2AFC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45022476"/>
                  </p:ext>
                </p:extLst>
              </p:nvPr>
            </p:nvGraphicFramePr>
            <p:xfrm>
              <a:off x="723900" y="665512"/>
              <a:ext cx="2165330" cy="1367577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165330" cy="1367577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63605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13881" d="1000000"/>
                    <am3d:preTrans dx="-917377" dy="1020038" dz="-13382229"/>
                    <am3d:scale>
                      <am3d:sx n="1000000" d="1000000"/>
                      <am3d:sy n="1000000" d="1000000"/>
                      <am3d:sz n="1000000" d="1000000"/>
                    </am3d:scale>
                    <am3d:rot ax="117203" ay="23421" az="8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1000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>
                <a:extLst>
                  <a:ext uri="{FF2B5EF4-FFF2-40B4-BE49-F238E27FC236}">
                    <a16:creationId xmlns:a16="http://schemas.microsoft.com/office/drawing/2014/main" id="{7EDFCD78-F968-41E8-9A9F-A5215B2AFC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3900" y="665512"/>
                <a:ext cx="2165330" cy="1367577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32B5036E-D6C8-4792-B12D-17D801D0E23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0756617"/>
                  </p:ext>
                </p:extLst>
              </p:nvPr>
            </p:nvGraphicFramePr>
            <p:xfrm>
              <a:off x="-442726" y="3372934"/>
              <a:ext cx="2249288" cy="1055323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249288" cy="1055323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80540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56890" d="1000000"/>
                    <am3d:preTrans dx="2983539" dy="-1367961" dz="-30641862"/>
                    <am3d:scale>
                      <am3d:sx n="1000000" d="1000000"/>
                      <am3d:sy n="1000000" d="1000000"/>
                      <am3d:sz n="1000000" d="1000000"/>
                    </am3d:scale>
                    <am3d:rot ax="3168018" ay="111002" az="146112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2800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32B5036E-D6C8-4792-B12D-17D801D0E2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442726" y="3372934"/>
                <a:ext cx="2249288" cy="1055323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>
                <a:extLst>
                  <a:ext uri="{FF2B5EF4-FFF2-40B4-BE49-F238E27FC236}">
                    <a16:creationId xmlns:a16="http://schemas.microsoft.com/office/drawing/2014/main" id="{0319B01C-50E7-48B3-909B-D2B14BC3EA7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751974"/>
                  </p:ext>
                </p:extLst>
              </p:nvPr>
            </p:nvGraphicFramePr>
            <p:xfrm rot="7167623" flipH="1">
              <a:off x="6986707" y="3405158"/>
              <a:ext cx="1178707" cy="1273666"/>
            </p:xfrm>
            <a:graphic>
              <a:graphicData uri="http://schemas.microsoft.com/office/drawing/2017/model3d">
                <am3d:model3d r:embed="rId8">
                  <am3d:spPr>
                    <a:xfrm rot="7167623" flipH="1">
                      <a:off x="0" y="0"/>
                      <a:ext cx="1178707" cy="1273666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38500" dist="50800" dir="5400000" sy="-100000" algn="bl" rotWithShape="0"/>
                    </a:effectLst>
                  </am3d:spPr>
                  <am3d:camera>
                    <am3d:pos x="0" y="0" z="7840833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759975" d="1000000"/>
                    <am3d:preTrans dx="3302368" dy="1717230" dz="-27069441"/>
                    <am3d:scale>
                      <am3d:sx n="1000000" d="1000000"/>
                      <am3d:sy n="1000000" d="1000000"/>
                      <am3d:sz n="1000000" d="1000000"/>
                    </am3d:scale>
                    <am3d:rot ax="-3851306" ay="-2283438" az="3112997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313688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>
                <a:extLst>
                  <a:ext uri="{FF2B5EF4-FFF2-40B4-BE49-F238E27FC236}">
                    <a16:creationId xmlns:a16="http://schemas.microsoft.com/office/drawing/2014/main" id="{0319B01C-50E7-48B3-909B-D2B14BC3EA7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7167623" flipH="1">
                <a:off x="6986707" y="3405158"/>
                <a:ext cx="1178707" cy="1273666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38500" dist="50800" dir="5400000" sy="-100000" algn="bl" rotWithShape="0"/>
              </a:effectLst>
            </p:spPr>
          </p:pic>
        </mc:Fallback>
      </mc:AlternateContent>
      <p:sp>
        <p:nvSpPr>
          <p:cNvPr id="4" name="TextBox 3"/>
          <p:cNvSpPr txBox="1"/>
          <p:nvPr/>
        </p:nvSpPr>
        <p:spPr>
          <a:xfrm>
            <a:off x="3552385" y="3595746"/>
            <a:ext cx="225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-By </a:t>
            </a:r>
          </a:p>
          <a:p>
            <a:r>
              <a:rPr lang="en-IN" dirty="0">
                <a:solidFill>
                  <a:schemeClr val="bg1"/>
                </a:solidFill>
              </a:rPr>
              <a:t>Om Subrato Dey</a:t>
            </a:r>
          </a:p>
          <a:p>
            <a:r>
              <a:rPr lang="en-IN" dirty="0" err="1">
                <a:solidFill>
                  <a:schemeClr val="bg1"/>
                </a:solidFill>
              </a:rPr>
              <a:t>Priyam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Choudhary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Devarya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Lakhanpal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23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mph" presetSubtype="128" accel="2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8" presetClass="emph" presetSubtype="128" accel="2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2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893321"/>
                  </p:ext>
                </p:extLst>
              </p:nvPr>
            </p:nvGraphicFramePr>
            <p:xfrm>
              <a:off x="6974268" y="178491"/>
              <a:ext cx="1911298" cy="11980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11298" cy="1198038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295" endPos="92000" dist="101600" dir="5400000" sy="-100000" algn="bl" rotWithShape="0"/>
                    </a:effectLst>
                  </am3d:spPr>
                  <am3d:camera>
                    <am3d:pos x="0" y="0" z="63605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13881" d="1000000"/>
                    <am3d:preTrans dx="-917377" dy="1020038" dz="-13382229"/>
                    <am3d:scale>
                      <am3d:sx n="1000000" d="1000000"/>
                      <am3d:sy n="1000000" d="1000000"/>
                      <am3d:sz n="1000000" d="1000000"/>
                    </am3d:scale>
                    <am3d:rot ax="-668867" ay="1452030" az="-2771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107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4268" y="178491"/>
                <a:ext cx="1911298" cy="1198038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295" endPos="92000" dist="101600" dir="5400000" sy="-100000" algn="bl" rotWithShape="0"/>
              </a:effectLst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E68F8C9-9363-411D-9575-F40C87B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/>
          <a:lstStyle/>
          <a:p>
            <a:r>
              <a:rPr lang="en-US" b="1" u="sng" dirty="0"/>
              <a:t>Introduction: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9903872"/>
                  </p:ext>
                </p:extLst>
              </p:nvPr>
            </p:nvGraphicFramePr>
            <p:xfrm>
              <a:off x="-1324354" y="2913489"/>
              <a:ext cx="2249292" cy="10553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249292" cy="1055323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80540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56890" d="1000000"/>
                    <am3d:preTrans dx="2983539" dy="-1367961" dz="-30641862"/>
                    <am3d:scale>
                      <am3d:sx n="1000000" d="1000000"/>
                      <am3d:sy n="1000000" d="1000000"/>
                      <am3d:sz n="1000000" d="1000000"/>
                    </am3d:scale>
                    <am3d:rot ax="3168018" ay="111002" az="1461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800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324354" y="2913489"/>
                <a:ext cx="2249292" cy="1055323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723900" y="1360073"/>
            <a:ext cx="865608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Human Activity Recognition (HAR):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 and importance of HAR in various fields (e.g., security, health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monitoring).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Overview of YOLO (You Only Look Once) models for object detection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they apply to HAR.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Objective: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compare the effectiveness of different YOLO versions in recognizing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analyzing human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04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893321"/>
                  </p:ext>
                </p:extLst>
              </p:nvPr>
            </p:nvGraphicFramePr>
            <p:xfrm>
              <a:off x="6974268" y="178491"/>
              <a:ext cx="1911298" cy="11980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11298" cy="1198038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295" endPos="92000" dist="101600" dir="5400000" sy="-100000" algn="bl" rotWithShape="0"/>
                    </a:effectLst>
                  </am3d:spPr>
                  <am3d:camera>
                    <am3d:pos x="0" y="0" z="63605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13881" d="1000000"/>
                    <am3d:preTrans dx="-917377" dy="1020038" dz="-13382229"/>
                    <am3d:scale>
                      <am3d:sx n="1000000" d="1000000"/>
                      <am3d:sy n="1000000" d="1000000"/>
                      <am3d:sz n="1000000" d="1000000"/>
                    </am3d:scale>
                    <am3d:rot ax="-668867" ay="1452030" az="-2771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107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4268" y="178491"/>
                <a:ext cx="1911298" cy="1198038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295" endPos="92000" dist="101600" dir="5400000" sy="-100000" algn="bl" rotWithShape="0"/>
              </a:effectLst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E68F8C9-9363-411D-9575-F40C87B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419727"/>
            <a:ext cx="7696200" cy="715566"/>
          </a:xfrm>
        </p:spPr>
        <p:txBody>
          <a:bodyPr/>
          <a:lstStyle/>
          <a:p>
            <a:r>
              <a:rPr lang="en-US" b="1" u="sng" dirty="0"/>
              <a:t>Dataset Customization: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9903872"/>
                  </p:ext>
                </p:extLst>
              </p:nvPr>
            </p:nvGraphicFramePr>
            <p:xfrm>
              <a:off x="-1324354" y="2913489"/>
              <a:ext cx="2249292" cy="10553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249292" cy="1055323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80540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56890" d="1000000"/>
                    <am3d:preTrans dx="2983539" dy="-1367961" dz="-30641862"/>
                    <am3d:scale>
                      <am3d:sx n="1000000" d="1000000"/>
                      <am3d:sy n="1000000" d="1000000"/>
                      <am3d:sz n="1000000" d="1000000"/>
                    </am3d:scale>
                    <am3d:rot ax="3168018" ay="111002" az="1461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800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324354" y="2913489"/>
                <a:ext cx="2249292" cy="1055323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723900" y="1130308"/>
            <a:ext cx="791793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Dataset Preparation: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-&gt;Description of the dataset used for HAR (</a:t>
            </a:r>
            <a:r>
              <a:rPr lang="en-US" altLang="en-US" sz="1600" b="1" dirty="0">
                <a:latin typeface="Arial" panose="020B0604020202020204" pitchFamily="34" charset="0"/>
              </a:rPr>
              <a:t>manually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labeled images)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Customizing the Dataset: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 of how the dataset was tailored for YOLO models.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Labeling Process: (Using</a:t>
            </a:r>
            <a:r>
              <a:rPr kumimoji="0" lang="en-US" altLang="en-US" sz="1600" b="1" i="0" u="none" strike="noStrike" cap="none" normalizeH="0" dirty="0">
                <a:ln>
                  <a:noFill/>
                </a:ln>
                <a:effectLst/>
                <a:latin typeface="Arial" panose="020B0604020202020204" pitchFamily="34" charset="0"/>
              </a:rPr>
              <a:t> makesense.ai or </a:t>
            </a:r>
            <a:r>
              <a:rPr kumimoji="0" lang="en-US" altLang="en-US" sz="1600" b="1" i="0" u="none" strike="noStrike" cap="none" normalizeH="0" dirty="0" err="1">
                <a:ln>
                  <a:noFill/>
                </a:ln>
                <a:effectLst/>
                <a:latin typeface="Arial" panose="020B0604020202020204" pitchFamily="34" charset="0"/>
              </a:rPr>
              <a:t>Roboflow</a:t>
            </a:r>
            <a:r>
              <a:rPr kumimoji="0" lang="en-US" altLang="en-US" sz="1600" b="1" i="0" u="none" strike="noStrike" cap="none" normalizeH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of bounding boxes to mark activities.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Conversion of labels into a format compatible with YOLO.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 an image showing the labeling process and bounding box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HAR Dataset to be modified</a:t>
            </a:r>
            <a:r>
              <a:rPr kumimoji="0" lang="en-US" altLang="en-US" sz="1600" b="1" i="0" u="none" strike="noStrike" cap="none" normalizeH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lang="en-US" altLang="en-US" sz="1600" b="1" dirty="0">
                <a:latin typeface="Arial" panose="020B0604020202020204" pitchFamily="34" charset="0"/>
                <a:hlinkClick r:id="rId6"/>
              </a:rPr>
              <a:t>https://www.kaggle.com/datasets/meetnagadia/human-action-recognition-har-dataset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681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893321"/>
                  </p:ext>
                </p:extLst>
              </p:nvPr>
            </p:nvGraphicFramePr>
            <p:xfrm>
              <a:off x="6974268" y="178491"/>
              <a:ext cx="1911298" cy="11980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11298" cy="1198038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295" endPos="92000" dist="101600" dir="5400000" sy="-100000" algn="bl" rotWithShape="0"/>
                    </a:effectLst>
                  </am3d:spPr>
                  <am3d:camera>
                    <am3d:pos x="0" y="0" z="63605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13881" d="1000000"/>
                    <am3d:preTrans dx="-917377" dy="1020038" dz="-13382229"/>
                    <am3d:scale>
                      <am3d:sx n="1000000" d="1000000"/>
                      <am3d:sy n="1000000" d="1000000"/>
                      <am3d:sz n="1000000" d="1000000"/>
                    </am3d:scale>
                    <am3d:rot ax="-668867" ay="1452030" az="-2771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107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4268" y="178491"/>
                <a:ext cx="1911298" cy="1198038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295" endPos="92000" dist="101600" dir="5400000" sy="-100000" algn="bl" rotWithShape="0"/>
              </a:effectLst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E68F8C9-9363-411D-9575-F40C87B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>
            <a:normAutofit/>
          </a:bodyPr>
          <a:lstStyle/>
          <a:p>
            <a:r>
              <a:rPr lang="en-US" sz="2800" b="1" u="sng" dirty="0"/>
              <a:t>First Layer: Yolo Model Implementation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9903872"/>
                  </p:ext>
                </p:extLst>
              </p:nvPr>
            </p:nvGraphicFramePr>
            <p:xfrm>
              <a:off x="-1324354" y="2913489"/>
              <a:ext cx="2249292" cy="10553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249292" cy="1055323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80540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56890" d="1000000"/>
                    <am3d:preTrans dx="2983539" dy="-1367961" dz="-30641862"/>
                    <am3d:scale>
                      <am3d:sx n="1000000" d="1000000"/>
                      <am3d:sy n="1000000" d="1000000"/>
                      <am3d:sz n="1000000" d="1000000"/>
                    </am3d:scale>
                    <am3d:rot ax="3168018" ay="111002" az="1461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800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324354" y="2913489"/>
                <a:ext cx="2249292" cy="1055323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924938" y="1268016"/>
            <a:ext cx="734156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YOLO Versions: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Brief overview of the YOLO versions used (e.g., YOLOv3, YOLOv4, YOLOv5).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Architecture: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 of how the YOLO model processes input data (image/video) to detect human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First Layer: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Describe the initial detection of human activities using YOLO.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Highlight the differences in detection accuracy and speed among different YOLO versions.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Comparative chart or table showing performance metrics (e.g.,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mAP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FPS) for each YOLO version.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87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893321"/>
                  </p:ext>
                </p:extLst>
              </p:nvPr>
            </p:nvGraphicFramePr>
            <p:xfrm>
              <a:off x="6974268" y="178491"/>
              <a:ext cx="1911298" cy="11980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11298" cy="1198038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295" endPos="92000" dist="101600" dir="5400000" sy="-100000" algn="bl" rotWithShape="0"/>
                    </a:effectLst>
                  </am3d:spPr>
                  <am3d:camera>
                    <am3d:pos x="0" y="0" z="63605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13881" d="1000000"/>
                    <am3d:preTrans dx="-917377" dy="1020038" dz="-13382229"/>
                    <am3d:scale>
                      <am3d:sx n="1000000" d="1000000"/>
                      <am3d:sy n="1000000" d="1000000"/>
                      <am3d:sz n="1000000" d="1000000"/>
                    </am3d:scale>
                    <am3d:rot ax="-668867" ay="1452030" az="-2771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107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4268" y="178491"/>
                <a:ext cx="1911298" cy="1198038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295" endPos="92000" dist="101600" dir="5400000" sy="-100000" algn="bl" rotWithShape="0"/>
              </a:effectLst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E68F8C9-9363-411D-9575-F40C87B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>
            <a:noAutofit/>
          </a:bodyPr>
          <a:lstStyle/>
          <a:p>
            <a:r>
              <a:rPr lang="en-US" sz="2800" b="1" u="sng" dirty="0"/>
              <a:t>Second Layer - Algorithm for Relative Motion (Only for V5 version)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9903872"/>
                  </p:ext>
                </p:extLst>
              </p:nvPr>
            </p:nvGraphicFramePr>
            <p:xfrm>
              <a:off x="-1324354" y="2913489"/>
              <a:ext cx="2249292" cy="10553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249292" cy="1055323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80540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56890" d="1000000"/>
                    <am3d:preTrans dx="2983539" dy="-1367961" dz="-30641862"/>
                    <am3d:scale>
                      <am3d:sx n="1000000" d="1000000"/>
                      <am3d:sy n="1000000" d="1000000"/>
                      <am3d:sz n="1000000" d="1000000"/>
                    </am3d:scale>
                    <am3d:rot ax="3168018" ay="111002" az="1461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800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324354" y="2913489"/>
                <a:ext cx="2249292" cy="1055323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723900" y="1268016"/>
            <a:ext cx="8097811" cy="375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400" b="1" dirty="0"/>
          </a:p>
          <a:p>
            <a:r>
              <a:rPr lang="en-US" sz="1400" b="1" dirty="0"/>
              <a:t>Relative Motion Analysis:</a:t>
            </a:r>
            <a:endParaRPr lang="en-US" sz="1400" dirty="0"/>
          </a:p>
          <a:p>
            <a:pPr lvl="1"/>
            <a:r>
              <a:rPr lang="en-US" sz="1400" b="1" dirty="0"/>
              <a:t>Objective:</a:t>
            </a:r>
            <a:r>
              <a:rPr lang="en-US" sz="1400" dirty="0"/>
              <a:t> To analyze the movement of detected human activities over time.</a:t>
            </a:r>
          </a:p>
          <a:p>
            <a:pPr lvl="1"/>
            <a:r>
              <a:rPr lang="en-US" sz="1400" b="1" dirty="0"/>
              <a:t>Bounding Box Coordinates:</a:t>
            </a:r>
            <a:endParaRPr lang="en-US" sz="1400" dirty="0"/>
          </a:p>
          <a:p>
            <a:pPr lvl="2"/>
            <a:r>
              <a:rPr lang="en-US" sz="1400" dirty="0"/>
              <a:t>How bounding box coordinates are used to track movement.</a:t>
            </a:r>
          </a:p>
          <a:p>
            <a:pPr lvl="2"/>
            <a:r>
              <a:rPr lang="en-US" sz="1400" dirty="0"/>
              <a:t>Example: Tracking a person walking across a frame.</a:t>
            </a:r>
          </a:p>
          <a:p>
            <a:pPr lvl="1"/>
            <a:r>
              <a:rPr lang="en-US" sz="1400" b="1" dirty="0"/>
              <a:t>Mathematical Equations:</a:t>
            </a:r>
            <a:endParaRPr lang="en-US" sz="1400" dirty="0"/>
          </a:p>
          <a:p>
            <a:pPr lvl="2"/>
            <a:r>
              <a:rPr lang="en-US" sz="1400" dirty="0"/>
              <a:t>Introduction to the equations used to calculate relative motion (e.g., velocity, acceleration).</a:t>
            </a:r>
          </a:p>
          <a:p>
            <a:pPr lvl="2"/>
            <a:r>
              <a:rPr lang="en-US" sz="1400" b="1" dirty="0"/>
              <a:t>Equation Breakdown:</a:t>
            </a:r>
            <a:endParaRPr lang="en-US" sz="1400" dirty="0"/>
          </a:p>
          <a:p>
            <a:pPr lvl="3"/>
            <a:r>
              <a:rPr lang="en-US" sz="1400" dirty="0"/>
              <a:t>Show formulas and explain each term (e.g., change in x, y coordinates over time).</a:t>
            </a:r>
          </a:p>
          <a:p>
            <a:endParaRPr lang="en-US" sz="1400" b="1" dirty="0"/>
          </a:p>
          <a:p>
            <a:r>
              <a:rPr lang="en-US" sz="1400" b="1" dirty="0"/>
              <a:t>Visual Example:</a:t>
            </a:r>
            <a:endParaRPr lang="en-US" sz="1400" dirty="0"/>
          </a:p>
          <a:p>
            <a:pPr lvl="1"/>
            <a:r>
              <a:rPr lang="en-US" sz="1400" dirty="0"/>
              <a:t>Diagram showing how bounding box coordinates change as the person moves.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99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893321"/>
                  </p:ext>
                </p:extLst>
              </p:nvPr>
            </p:nvGraphicFramePr>
            <p:xfrm>
              <a:off x="6974268" y="178491"/>
              <a:ext cx="1911298" cy="11980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11298" cy="1198038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295" endPos="92000" dist="101600" dir="5400000" sy="-100000" algn="bl" rotWithShape="0"/>
                    </a:effectLst>
                  </am3d:spPr>
                  <am3d:camera>
                    <am3d:pos x="0" y="0" z="63605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13881" d="1000000"/>
                    <am3d:preTrans dx="-917377" dy="1020038" dz="-13382229"/>
                    <am3d:scale>
                      <am3d:sx n="1000000" d="1000000"/>
                      <am3d:sy n="1000000" d="1000000"/>
                      <am3d:sz n="1000000" d="1000000"/>
                    </am3d:scale>
                    <am3d:rot ax="-668867" ay="1452030" az="-2771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107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4268" y="178491"/>
                <a:ext cx="1911298" cy="1198038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295" endPos="92000" dist="101600" dir="5400000" sy="-100000" algn="bl" rotWithShape="0"/>
              </a:effectLst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E68F8C9-9363-411D-9575-F40C87B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/>
          <a:lstStyle/>
          <a:p>
            <a:r>
              <a:rPr lang="en-IN" b="1" u="sng" dirty="0"/>
              <a:t>Integration and Analysis:</a:t>
            </a:r>
            <a:endParaRPr lang="en-US" b="1" u="sng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9903872"/>
                  </p:ext>
                </p:extLst>
              </p:nvPr>
            </p:nvGraphicFramePr>
            <p:xfrm>
              <a:off x="-1324354" y="2913489"/>
              <a:ext cx="2249292" cy="10553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249292" cy="1055323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80540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56890" d="1000000"/>
                    <am3d:preTrans dx="2983539" dy="-1367961" dz="-30641862"/>
                    <am3d:scale>
                      <am3d:sx n="1000000" d="1000000"/>
                      <am3d:sy n="1000000" d="1000000"/>
                      <am3d:sz n="1000000" d="1000000"/>
                    </am3d:scale>
                    <am3d:rot ax="3168018" ay="111002" az="1461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800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324354" y="2913489"/>
                <a:ext cx="2249292" cy="1055323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3900" y="1221573"/>
            <a:ext cx="844654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Combining YOLO and Motion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 of how the first and second layers work together.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Workflow: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YOLO detects human activities.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algorithm analyzes relative motion to classify and understand the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activities.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Case Study/Example: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Walk through an example scenario (e.g., identifying and tracking a person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running in a crowded area).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69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893321"/>
                  </p:ext>
                </p:extLst>
              </p:nvPr>
            </p:nvGraphicFramePr>
            <p:xfrm>
              <a:off x="6974268" y="178491"/>
              <a:ext cx="1911298" cy="11980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11298" cy="1198038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295" endPos="92000" dist="101600" dir="5400000" sy="-100000" algn="bl" rotWithShape="0"/>
                    </a:effectLst>
                  </am3d:spPr>
                  <am3d:camera>
                    <am3d:pos x="0" y="0" z="63605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13881" d="1000000"/>
                    <am3d:preTrans dx="-917377" dy="1020038" dz="-13382229"/>
                    <am3d:scale>
                      <am3d:sx n="1000000" d="1000000"/>
                      <am3d:sy n="1000000" d="1000000"/>
                      <am3d:sz n="1000000" d="1000000"/>
                    </am3d:scale>
                    <am3d:rot ax="-668867" ay="1452030" az="-2771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107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4268" y="178491"/>
                <a:ext cx="1911298" cy="1198038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295" endPos="92000" dist="101600" dir="5400000" sy="-100000" algn="bl" rotWithShape="0"/>
              </a:effectLst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E68F8C9-9363-411D-9575-F40C87B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Outcomes and Comparative Analysis: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9903872"/>
                  </p:ext>
                </p:extLst>
              </p:nvPr>
            </p:nvGraphicFramePr>
            <p:xfrm>
              <a:off x="-1324354" y="2913489"/>
              <a:ext cx="2249292" cy="10553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249292" cy="1055323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80540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56890" d="1000000"/>
                    <am3d:preTrans dx="2983539" dy="-1367961" dz="-30641862"/>
                    <am3d:scale>
                      <am3d:sx n="1000000" d="1000000"/>
                      <am3d:sy n="1000000" d="1000000"/>
                      <am3d:sz n="1000000" d="1000000"/>
                    </am3d:scale>
                    <am3d:rot ax="3168018" ay="111002" az="1461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800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324354" y="2913489"/>
                <a:ext cx="2249292" cy="1055323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97337" y="1376529"/>
            <a:ext cx="727628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Performance Comparison: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Summarize the findings of using different YOLO versions for HAR.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Metrics: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 detection accuracy, speed, and effectiveness in recognizing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complex activities.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Relative Motion Analysis: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well the motion analysis algorithm performed in conjunction with YOLO.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Challenges and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Discuss any difficulties encountered (e.g., handling occlusions, varying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lighting conditions).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takeaways from the comparative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308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893321"/>
                  </p:ext>
                </p:extLst>
              </p:nvPr>
            </p:nvGraphicFramePr>
            <p:xfrm>
              <a:off x="6974268" y="178491"/>
              <a:ext cx="1911298" cy="11980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11298" cy="1198038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295" endPos="92000" dist="101600" dir="5400000" sy="-100000" algn="bl" rotWithShape="0"/>
                    </a:effectLst>
                  </am3d:spPr>
                  <am3d:camera>
                    <am3d:pos x="0" y="0" z="63605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13881" d="1000000"/>
                    <am3d:preTrans dx="-917377" dy="1020038" dz="-13382229"/>
                    <am3d:scale>
                      <am3d:sx n="1000000" d="1000000"/>
                      <am3d:sy n="1000000" d="1000000"/>
                      <am3d:sz n="1000000" d="1000000"/>
                    </am3d:scale>
                    <am3d:rot ax="-668867" ay="1452030" az="-2771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107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>
                <a:extLst>
                  <a:ext uri="{FF2B5EF4-FFF2-40B4-BE49-F238E27FC236}">
                    <a16:creationId xmlns:a16="http://schemas.microsoft.com/office/drawing/2014/main" id="{F804DE16-8AB3-4EC8-AB3F-4402B5B08F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4268" y="178491"/>
                <a:ext cx="1911298" cy="1198038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295" endPos="92000" dist="101600" dir="5400000" sy="-100000" algn="bl" rotWithShape="0"/>
              </a:effectLst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E68F8C9-9363-411D-9575-F40C87B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>
            <a:normAutofit/>
          </a:bodyPr>
          <a:lstStyle/>
          <a:p>
            <a:r>
              <a:rPr lang="en-US" b="1" u="sng" dirty="0"/>
              <a:t>Conclusion: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9903872"/>
                  </p:ext>
                </p:extLst>
              </p:nvPr>
            </p:nvGraphicFramePr>
            <p:xfrm>
              <a:off x="-1324354" y="2913489"/>
              <a:ext cx="2249292" cy="10553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249292" cy="1055323"/>
                    </a:xfrm>
                    <a:prstGeom prst="rect">
                      <a:avLst/>
                    </a:prstGeom>
                    <a:effectLst>
                      <a:outerShdw blurRad="50800" dist="50800" dir="5400000" algn="ctr" rotWithShape="0">
                        <a:schemeClr val="tx1">
                          <a:alpha val="15000"/>
                        </a:schemeClr>
                      </a:outerShdw>
                      <a:reflection blurRad="6350" stA="50000" endA="300" endPos="55000" dir="5400000" sy="-100000" algn="bl" rotWithShape="0"/>
                    </a:effectLst>
                  </am3d:spPr>
                  <am3d:camera>
                    <am3d:pos x="0" y="0" z="780540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56890" d="1000000"/>
                    <am3d:preTrans dx="2983539" dy="-1367961" dz="-30641862"/>
                    <am3d:scale>
                      <am3d:sx n="1000000" d="1000000"/>
                      <am3d:sy n="1000000" d="1000000"/>
                      <am3d:sz n="1000000" d="1000000"/>
                    </am3d:scale>
                    <am3d:rot ax="3168018" ay="111002" az="1461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800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1EBF9C0A-857F-4F95-B698-15F1F4DC3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324354" y="2913489"/>
                <a:ext cx="2249292" cy="1055323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  <a:reflection blurRad="6350" stA="50000" endA="300" endPos="55000" dir="5400000" sy="-100000" algn="bl" rotWithShape="0"/>
              </a:effectLst>
            </p:spPr>
          </p:pic>
        </mc:Fallback>
      </mc:AlternateContent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529027" y="1376529"/>
            <a:ext cx="85449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Summary: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Recap the key points of the project, including the dataset customization,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YOLO implementation, and motion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Future Work: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Potential improvements (e.g., using more advanced YOLO models, refining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motion analysis).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Applications of the research in real-world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Acknowledgments and Questions: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Thank your audience and open the floor for questions.</a:t>
            </a:r>
          </a:p>
        </p:txBody>
      </p:sp>
    </p:spTree>
    <p:extLst>
      <p:ext uri="{BB962C8B-B14F-4D97-AF65-F5344CB8AC3E}">
        <p14:creationId xmlns:p14="http://schemas.microsoft.com/office/powerpoint/2010/main" val="4061256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3D Gradient Style Advertising Agency">
      <a:dk1>
        <a:srgbClr val="000000"/>
      </a:dk1>
      <a:lt1>
        <a:srgbClr val="FFFFFF"/>
      </a:lt1>
      <a:dk2>
        <a:srgbClr val="F1F549"/>
      </a:dk2>
      <a:lt2>
        <a:srgbClr val="FFFFFF"/>
      </a:lt2>
      <a:accent1>
        <a:srgbClr val="FF7F27"/>
      </a:accent1>
      <a:accent2>
        <a:srgbClr val="F93DA4"/>
      </a:accent2>
      <a:accent3>
        <a:srgbClr val="00A8F3"/>
      </a:accent3>
      <a:accent4>
        <a:srgbClr val="B83DBA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Personalizado 2">
      <a:majorFont>
        <a:latin typeface="Bigshot One"/>
        <a:ea typeface=""/>
        <a:cs typeface=""/>
      </a:majorFont>
      <a:minorFont>
        <a:latin typeface="Raleway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1777</TotalTime>
  <Words>605</Words>
  <Application>Microsoft Office PowerPoint</Application>
  <PresentationFormat>On-screen Show (16:9)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Bigshot One</vt:lpstr>
      <vt:lpstr>Calibri</vt:lpstr>
      <vt:lpstr>Raleway</vt:lpstr>
      <vt:lpstr>Office Theme</vt:lpstr>
      <vt:lpstr>Comparative Analysis of Human Activity Recognition Using Different Versions of Yolo</vt:lpstr>
      <vt:lpstr>Introduction:</vt:lpstr>
      <vt:lpstr>Dataset Customization:</vt:lpstr>
      <vt:lpstr>First Layer: Yolo Model Implementation</vt:lpstr>
      <vt:lpstr>Second Layer - Algorithm for Relative Motion (Only for V5 version)</vt:lpstr>
      <vt:lpstr>Integration and Analysis:</vt:lpstr>
      <vt:lpstr>Outcomes and Comparative Analysis: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Gradient Style Advertising Agency</dc:title>
  <cp:lastModifiedBy>Priyam Chowdhury</cp:lastModifiedBy>
  <cp:revision>7</cp:revision>
  <dcterms:created xsi:type="dcterms:W3CDTF">2021-10-12T08:06:43Z</dcterms:created>
  <dcterms:modified xsi:type="dcterms:W3CDTF">2025-07-23T06:03:43Z</dcterms:modified>
</cp:coreProperties>
</file>